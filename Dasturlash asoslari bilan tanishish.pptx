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4"/>
  </p:sldMasterIdLst>
  <p:notesMasterIdLst>
    <p:notesMasterId r:id="rId11"/>
  </p:notesMasterIdLst>
  <p:handoutMasterIdLst>
    <p:handoutMasterId r:id="rId12"/>
  </p:handoutMasterIdLst>
  <p:sldIdLst>
    <p:sldId id="278" r:id="rId5"/>
    <p:sldId id="280" r:id="rId6"/>
    <p:sldId id="283" r:id="rId7"/>
    <p:sldId id="284" r:id="rId8"/>
    <p:sldId id="286" r:id="rId9"/>
    <p:sldId id="28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EF7BF-8677-4414-86E1-BB2AAF45A13B}" type="datetime1">
              <a:rPr lang="ru-RU" smtClean="0"/>
              <a:t>08.10.2026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2A696-3C21-4250-AD61-03F1E1BF326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39855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28083-36D7-4636-A812-907FF9D7C267}" type="datetime1">
              <a:rPr lang="ru-RU" smtClean="0"/>
              <a:pPr/>
              <a:t>08.10.2026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E88F-1F85-4A27-9D34-D74A50E7B0DA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6121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ru-RU" noProof="0" smtClean="0"/>
              <a:t>5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09828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8B96AE-99FB-476F-9A0D-2322D8B66A52}" type="datetime1">
              <a:rPr lang="ru-RU" noProof="0" smtClean="0"/>
              <a:t>08.10.2026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1132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6AE-99FB-476F-9A0D-2322D8B66A52}" type="datetime1">
              <a:rPr lang="ru-RU" noProof="0" smtClean="0"/>
              <a:t>08.10.2026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335626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6AE-99FB-476F-9A0D-2322D8B66A52}" type="datetime1">
              <a:rPr lang="ru-RU" noProof="0" smtClean="0"/>
              <a:t>08.10.2026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07440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6AE-99FB-476F-9A0D-2322D8B66A52}" type="datetime1">
              <a:rPr lang="ru-RU" noProof="0" smtClean="0"/>
              <a:t>08.10.2026</a:t>
            </a:fld>
            <a:endParaRPr lang="ru-R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565870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6AE-99FB-476F-9A0D-2322D8B66A52}" type="datetime1">
              <a:rPr lang="ru-RU" noProof="0" smtClean="0"/>
              <a:t>08.10.2026</a:t>
            </a:fld>
            <a:endParaRPr lang="ru-RU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295102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6AE-99FB-476F-9A0D-2322D8B66A52}" type="datetime1">
              <a:rPr lang="ru-RU" noProof="0" smtClean="0"/>
              <a:t>08.10.2026</a:t>
            </a:fld>
            <a:endParaRPr lang="ru-RU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1917952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6AE-99FB-476F-9A0D-2322D8B66A52}" type="datetime1">
              <a:rPr lang="ru-RU" noProof="0" smtClean="0"/>
              <a:t>08.10.2026</a:t>
            </a:fld>
            <a:endParaRPr lang="ru-RU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886410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6AE-99FB-476F-9A0D-2322D8B66A52}" type="datetime1">
              <a:rPr lang="ru-RU" noProof="0" smtClean="0"/>
              <a:t>08.10.2026</a:t>
            </a:fld>
            <a:endParaRPr lang="ru-R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864996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6AE-99FB-476F-9A0D-2322D8B66A52}" type="datetime1">
              <a:rPr lang="ru-RU" noProof="0" smtClean="0"/>
              <a:t>08.10.2026</a:t>
            </a:fld>
            <a:endParaRPr lang="ru-R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679990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6AE-99FB-476F-9A0D-2322D8B66A52}" type="datetime1">
              <a:rPr lang="ru-RU" noProof="0" smtClean="0"/>
              <a:t>08.10.2026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971674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6AE-99FB-476F-9A0D-2322D8B66A52}" type="datetime1">
              <a:rPr lang="ru-RU" noProof="0" smtClean="0"/>
              <a:t>08.10.2026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8187914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98B96AE-99FB-476F-9A0D-2322D8B66A52}" type="datetime1">
              <a:rPr lang="ru-RU" noProof="0" smtClean="0"/>
              <a:t>08.10.2026</a:t>
            </a:fld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2509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uzcppx" TargetMode="External"/><Relationship Id="rId2" Type="http://schemas.openxmlformats.org/officeDocument/2006/relationships/hyperlink" Target="https://clouduzb.github.io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9246"/>
            <a:ext cx="12192001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 rtlCol="0">
            <a:normAutofit/>
          </a:bodyPr>
          <a:lstStyle/>
          <a:p>
            <a:pPr algn="l"/>
            <a:r>
              <a:rPr lang="en-US" sz="4000" dirty="0" err="1">
                <a:highlight>
                  <a:srgbClr val="000000"/>
                </a:highlight>
              </a:rPr>
              <a:t>Dasturlash</a:t>
            </a:r>
            <a:r>
              <a:rPr lang="en-US" sz="4000" dirty="0">
                <a:highlight>
                  <a:srgbClr val="000000"/>
                </a:highlight>
              </a:rPr>
              <a:t> </a:t>
            </a:r>
            <a:r>
              <a:rPr lang="en-US" sz="4000" dirty="0" err="1">
                <a:highlight>
                  <a:srgbClr val="000000"/>
                </a:highlight>
              </a:rPr>
              <a:t>asoslari</a:t>
            </a:r>
            <a:r>
              <a:rPr lang="en-US" sz="4000" dirty="0">
                <a:highlight>
                  <a:srgbClr val="000000"/>
                </a:highlight>
              </a:rPr>
              <a:t> </a:t>
            </a:r>
            <a:r>
              <a:rPr lang="en-US" sz="4000" dirty="0" err="1">
                <a:highlight>
                  <a:srgbClr val="000000"/>
                </a:highlight>
              </a:rPr>
              <a:t>bilan</a:t>
            </a:r>
            <a:r>
              <a:rPr lang="en-US" sz="4000" dirty="0">
                <a:highlight>
                  <a:srgbClr val="000000"/>
                </a:highlight>
              </a:rPr>
              <a:t> </a:t>
            </a:r>
            <a:r>
              <a:rPr lang="en-US" sz="4000" dirty="0" err="1">
                <a:highlight>
                  <a:srgbClr val="000000"/>
                </a:highlight>
              </a:rPr>
              <a:t>tanishish</a:t>
            </a:r>
            <a:endParaRPr lang="ru-RU" sz="4000" dirty="0">
              <a:highlight>
                <a:srgbClr val="000000"/>
              </a:highlight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608031"/>
          </a:xfrm>
        </p:spPr>
        <p:txBody>
          <a:bodyPr rtlCol="0">
            <a:normAutofit/>
          </a:bodyPr>
          <a:lstStyle/>
          <a:p>
            <a:pPr algn="l" rtl="0"/>
            <a:r>
              <a:rPr lang="en-US" sz="2300" dirty="0">
                <a:highlight>
                  <a:srgbClr val="008000"/>
                </a:highlight>
              </a:rPr>
              <a:t>🎓</a:t>
            </a:r>
            <a:r>
              <a:rPr lang="en-US" sz="2300" dirty="0" err="1">
                <a:highlight>
                  <a:srgbClr val="008000"/>
                </a:highlight>
              </a:rPr>
              <a:t>Birgalikda</a:t>
            </a:r>
            <a:r>
              <a:rPr lang="en-US" sz="2300" dirty="0">
                <a:highlight>
                  <a:srgbClr val="008000"/>
                </a:highlight>
              </a:rPr>
              <a:t> </a:t>
            </a:r>
            <a:r>
              <a:rPr lang="en-US" sz="2300" dirty="0" err="1">
                <a:highlight>
                  <a:srgbClr val="008000"/>
                </a:highlight>
              </a:rPr>
              <a:t>o’rganamiz</a:t>
            </a:r>
            <a:r>
              <a:rPr lang="en-US" sz="2300" dirty="0">
                <a:highlight>
                  <a:srgbClr val="008000"/>
                </a:highlight>
              </a:rPr>
              <a:t>.</a:t>
            </a:r>
            <a:endParaRPr lang="ru-RU" sz="2300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03875-86C9-7E2E-B2EC-C558923A9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93963"/>
            <a:ext cx="10353762" cy="720436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Chiziqli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algoritmga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misol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8BCF3B-8291-7F9D-B8D7-5EFEC6964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06764"/>
            <a:ext cx="10353762" cy="4784436"/>
          </a:xfrm>
        </p:spPr>
        <p:txBody>
          <a:bodyPr/>
          <a:lstStyle/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1-blok </a:t>
            </a:r>
            <a:r>
              <a:rPr lang="en-US" dirty="0" err="1">
                <a:solidFill>
                  <a:schemeClr val="tx1"/>
                </a:solidFill>
              </a:rPr>
              <a:t>sxema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kodi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natijasi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</a:t>
            </a:r>
          </a:p>
          <a:p>
            <a:pPr marL="4572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   </a:t>
            </a:r>
          </a:p>
          <a:p>
            <a:pPr marL="4572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      </a:t>
            </a:r>
          </a:p>
          <a:p>
            <a:pPr marL="4572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          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52B07DAC-10B2-946B-205A-F00D7ABD4604}"/>
              </a:ext>
            </a:extLst>
          </p:cNvPr>
          <p:cNvSpPr/>
          <p:nvPr/>
        </p:nvSpPr>
        <p:spPr>
          <a:xfrm>
            <a:off x="1588655" y="1149928"/>
            <a:ext cx="1533236" cy="8636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Boshlash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A173704-64B9-C1CF-B2D8-E9B9441F1801}"/>
              </a:ext>
            </a:extLst>
          </p:cNvPr>
          <p:cNvSpPr/>
          <p:nvPr/>
        </p:nvSpPr>
        <p:spPr>
          <a:xfrm>
            <a:off x="1588655" y="2299855"/>
            <a:ext cx="1533236" cy="609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a=0, b=4</a:t>
            </a:r>
            <a:endParaRPr lang="ru-RU" dirty="0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6AB23618-7C64-9718-BFB7-5A7459B36D7E}"/>
              </a:ext>
            </a:extLst>
          </p:cNvPr>
          <p:cNvCxnSpPr/>
          <p:nvPr/>
        </p:nvCxnSpPr>
        <p:spPr>
          <a:xfrm>
            <a:off x="2346036" y="2013528"/>
            <a:ext cx="0" cy="28632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3B0DD12-25F0-A0AD-93B2-6D67167A12BA}"/>
              </a:ext>
            </a:extLst>
          </p:cNvPr>
          <p:cNvSpPr/>
          <p:nvPr/>
        </p:nvSpPr>
        <p:spPr>
          <a:xfrm>
            <a:off x="1588655" y="3195782"/>
            <a:ext cx="1533236" cy="609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b=b+4</a:t>
            </a:r>
          </a:p>
          <a:p>
            <a:pPr algn="ctr"/>
            <a:r>
              <a:rPr lang="en-US" dirty="0"/>
              <a:t>a=2*b</a:t>
            </a:r>
            <a:endParaRPr lang="ru-RU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78BD26E-FB80-7407-EB46-A0E0A6A59BE1}"/>
              </a:ext>
            </a:extLst>
          </p:cNvPr>
          <p:cNvCxnSpPr/>
          <p:nvPr/>
        </p:nvCxnSpPr>
        <p:spPr>
          <a:xfrm>
            <a:off x="2355273" y="3805382"/>
            <a:ext cx="0" cy="28632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Параллелограмм 12">
            <a:extLst>
              <a:ext uri="{FF2B5EF4-FFF2-40B4-BE49-F238E27FC236}">
                <a16:creationId xmlns:a16="http://schemas.microsoft.com/office/drawing/2014/main" id="{73E09EA8-2368-45C9-7430-8537676463B3}"/>
              </a:ext>
            </a:extLst>
          </p:cNvPr>
          <p:cNvSpPr/>
          <p:nvPr/>
        </p:nvSpPr>
        <p:spPr>
          <a:xfrm>
            <a:off x="1588655" y="4091709"/>
            <a:ext cx="1533236" cy="480291"/>
          </a:xfrm>
          <a:prstGeom prst="parallelogram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ru-RU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8AF5864F-B08F-2C54-82CA-996817440819}"/>
              </a:ext>
            </a:extLst>
          </p:cNvPr>
          <p:cNvCxnSpPr/>
          <p:nvPr/>
        </p:nvCxnSpPr>
        <p:spPr>
          <a:xfrm>
            <a:off x="2355273" y="2909455"/>
            <a:ext cx="0" cy="28632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:a16="http://schemas.microsoft.com/office/drawing/2014/main" id="{293CFE59-94BC-8F99-05BE-080A9486DC02}"/>
              </a:ext>
            </a:extLst>
          </p:cNvPr>
          <p:cNvSpPr/>
          <p:nvPr/>
        </p:nvSpPr>
        <p:spPr>
          <a:xfrm>
            <a:off x="1588651" y="4821382"/>
            <a:ext cx="1533236" cy="6096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Tugash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1CAF175-9E96-CDC2-3EF3-AFCE6B05828A}"/>
              </a:ext>
            </a:extLst>
          </p:cNvPr>
          <p:cNvCxnSpPr/>
          <p:nvPr/>
        </p:nvCxnSpPr>
        <p:spPr>
          <a:xfrm>
            <a:off x="2355273" y="4535055"/>
            <a:ext cx="0" cy="28632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AE05CCBD-326C-E51B-8E8A-66BAB22F7AB1}"/>
              </a:ext>
            </a:extLst>
          </p:cNvPr>
          <p:cNvSpPr/>
          <p:nvPr/>
        </p:nvSpPr>
        <p:spPr>
          <a:xfrm>
            <a:off x="3842327" y="1542473"/>
            <a:ext cx="3602181" cy="3648363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&lt;iostream&gt;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namespace std;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main(){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 a=0, b=4;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b=b+4;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a=2*b;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&lt;&lt;“a=“&lt;&lt;a&lt;&lt;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endl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return 0;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F5D4EA4-F7A4-084B-BEC6-317B3532C3E3}"/>
              </a:ext>
            </a:extLst>
          </p:cNvPr>
          <p:cNvSpPr/>
          <p:nvPr/>
        </p:nvSpPr>
        <p:spPr>
          <a:xfrm>
            <a:off x="7850909" y="1542473"/>
            <a:ext cx="3602181" cy="3648363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a=16</a:t>
            </a:r>
            <a:endParaRPr lang="ru-RU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9937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03875-86C9-7E2E-B2EC-C558923A9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93963"/>
            <a:ext cx="10353762" cy="720436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Tarmoqlanuvchi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algoritmga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misol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8BCF3B-8291-7F9D-B8D7-5EFEC6964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06764"/>
            <a:ext cx="10353762" cy="4784436"/>
          </a:xfrm>
        </p:spPr>
        <p:txBody>
          <a:bodyPr/>
          <a:lstStyle/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2-blok </a:t>
            </a:r>
            <a:r>
              <a:rPr lang="en-US" dirty="0" err="1">
                <a:solidFill>
                  <a:schemeClr val="tx1"/>
                </a:solidFill>
              </a:rPr>
              <a:t>sxema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kodi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natijasi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</a:t>
            </a:r>
          </a:p>
          <a:p>
            <a:pPr marL="4572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   </a:t>
            </a:r>
          </a:p>
          <a:p>
            <a:pPr marL="4572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      </a:t>
            </a:r>
          </a:p>
          <a:p>
            <a:pPr marL="4572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          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52B07DAC-10B2-946B-205A-F00D7ABD4604}"/>
              </a:ext>
            </a:extLst>
          </p:cNvPr>
          <p:cNvSpPr/>
          <p:nvPr/>
        </p:nvSpPr>
        <p:spPr>
          <a:xfrm>
            <a:off x="1168098" y="1031007"/>
            <a:ext cx="1464260" cy="51492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Boshlash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6AB23618-7C64-9718-BFB7-5A7459B36D7E}"/>
              </a:ext>
            </a:extLst>
          </p:cNvPr>
          <p:cNvCxnSpPr/>
          <p:nvPr/>
        </p:nvCxnSpPr>
        <p:spPr>
          <a:xfrm>
            <a:off x="1900228" y="1554019"/>
            <a:ext cx="0" cy="28632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Параллелограмм 12">
            <a:extLst>
              <a:ext uri="{FF2B5EF4-FFF2-40B4-BE49-F238E27FC236}">
                <a16:creationId xmlns:a16="http://schemas.microsoft.com/office/drawing/2014/main" id="{73E09EA8-2368-45C9-7430-8537676463B3}"/>
              </a:ext>
            </a:extLst>
          </p:cNvPr>
          <p:cNvSpPr/>
          <p:nvPr/>
        </p:nvSpPr>
        <p:spPr>
          <a:xfrm>
            <a:off x="1133610" y="1840346"/>
            <a:ext cx="1533236" cy="480291"/>
          </a:xfrm>
          <a:prstGeom prst="parallelogram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x, y</a:t>
            </a:r>
            <a:endParaRPr lang="ru-RU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8AF5864F-B08F-2C54-82CA-996817440819}"/>
              </a:ext>
            </a:extLst>
          </p:cNvPr>
          <p:cNvCxnSpPr/>
          <p:nvPr/>
        </p:nvCxnSpPr>
        <p:spPr>
          <a:xfrm>
            <a:off x="1900228" y="2320637"/>
            <a:ext cx="0" cy="28632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:a16="http://schemas.microsoft.com/office/drawing/2014/main" id="{293CFE59-94BC-8F99-05BE-080A9486DC02}"/>
              </a:ext>
            </a:extLst>
          </p:cNvPr>
          <p:cNvSpPr/>
          <p:nvPr/>
        </p:nvSpPr>
        <p:spPr>
          <a:xfrm>
            <a:off x="1205038" y="4738255"/>
            <a:ext cx="1533236" cy="6096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Tugash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1CAF175-9E96-CDC2-3EF3-AFCE6B05828A}"/>
              </a:ext>
            </a:extLst>
          </p:cNvPr>
          <p:cNvCxnSpPr/>
          <p:nvPr/>
        </p:nvCxnSpPr>
        <p:spPr>
          <a:xfrm>
            <a:off x="1957482" y="4451928"/>
            <a:ext cx="0" cy="28632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AE05CCBD-326C-E51B-8E8A-66BAB22F7AB1}"/>
              </a:ext>
            </a:extLst>
          </p:cNvPr>
          <p:cNvSpPr/>
          <p:nvPr/>
        </p:nvSpPr>
        <p:spPr>
          <a:xfrm>
            <a:off x="3842327" y="1542473"/>
            <a:ext cx="3602181" cy="3999345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&lt;iostream&gt;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namespace std;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main(){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  x, y;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&gt;&gt;x&gt;&gt;y;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if(x&gt;y){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&lt;&lt;x&lt;&lt;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endl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}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else{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&lt;&lt;y&lt;&lt;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endl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}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0;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F5D4EA4-F7A4-084B-BEC6-317B3532C3E3}"/>
              </a:ext>
            </a:extLst>
          </p:cNvPr>
          <p:cNvSpPr/>
          <p:nvPr/>
        </p:nvSpPr>
        <p:spPr>
          <a:xfrm>
            <a:off x="7850909" y="1542473"/>
            <a:ext cx="3602181" cy="3999345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Misol</a:t>
            </a:r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x=11</a:t>
            </a:r>
          </a:p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y=4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Natija</a:t>
            </a:r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  <a:endParaRPr lang="ru-RU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Ромб 5">
            <a:extLst>
              <a:ext uri="{FF2B5EF4-FFF2-40B4-BE49-F238E27FC236}">
                <a16:creationId xmlns:a16="http://schemas.microsoft.com/office/drawing/2014/main" id="{B40036EE-C4D0-68E7-093D-1F1BD612E62F}"/>
              </a:ext>
            </a:extLst>
          </p:cNvPr>
          <p:cNvSpPr/>
          <p:nvPr/>
        </p:nvSpPr>
        <p:spPr>
          <a:xfrm>
            <a:off x="1205038" y="2606963"/>
            <a:ext cx="1403915" cy="681183"/>
          </a:xfrm>
          <a:prstGeom prst="diamond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x&gt;y</a:t>
            </a:r>
            <a:endParaRPr lang="ru-RU" dirty="0"/>
          </a:p>
        </p:txBody>
      </p:sp>
      <p:sp>
        <p:nvSpPr>
          <p:cNvPr id="9" name="Параллелограмм 8">
            <a:extLst>
              <a:ext uri="{FF2B5EF4-FFF2-40B4-BE49-F238E27FC236}">
                <a16:creationId xmlns:a16="http://schemas.microsoft.com/office/drawing/2014/main" id="{6C8D3DE9-27C2-CCB6-E001-B7633AE21902}"/>
              </a:ext>
            </a:extLst>
          </p:cNvPr>
          <p:cNvSpPr/>
          <p:nvPr/>
        </p:nvSpPr>
        <p:spPr>
          <a:xfrm>
            <a:off x="518446" y="3622965"/>
            <a:ext cx="811993" cy="427182"/>
          </a:xfrm>
          <a:prstGeom prst="parallelogram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endParaRPr lang="ru-RU" dirty="0"/>
          </a:p>
        </p:txBody>
      </p:sp>
      <p:sp>
        <p:nvSpPr>
          <p:cNvPr id="10" name="Параллелограмм 9">
            <a:extLst>
              <a:ext uri="{FF2B5EF4-FFF2-40B4-BE49-F238E27FC236}">
                <a16:creationId xmlns:a16="http://schemas.microsoft.com/office/drawing/2014/main" id="{05514033-6F86-DD04-3BBD-54BD4EC67906}"/>
              </a:ext>
            </a:extLst>
          </p:cNvPr>
          <p:cNvSpPr/>
          <p:nvPr/>
        </p:nvSpPr>
        <p:spPr>
          <a:xfrm>
            <a:off x="2465282" y="3569855"/>
            <a:ext cx="811993" cy="480291"/>
          </a:xfrm>
          <a:prstGeom prst="parallelogram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  <a:endParaRPr lang="ru-RU" dirty="0"/>
          </a:p>
        </p:txBody>
      </p: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id="{7BA66B93-E7DA-317A-16F9-3B18BD58EC1C}"/>
              </a:ext>
            </a:extLst>
          </p:cNvPr>
          <p:cNvCxnSpPr>
            <a:cxnSpLocks/>
            <a:stCxn id="6" idx="1"/>
            <a:endCxn id="9" idx="0"/>
          </p:cNvCxnSpPr>
          <p:nvPr/>
        </p:nvCxnSpPr>
        <p:spPr>
          <a:xfrm rot="10800000" flipV="1">
            <a:off x="924444" y="2947555"/>
            <a:ext cx="280595" cy="67541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Соединитель: уступ 22">
            <a:extLst>
              <a:ext uri="{FF2B5EF4-FFF2-40B4-BE49-F238E27FC236}">
                <a16:creationId xmlns:a16="http://schemas.microsoft.com/office/drawing/2014/main" id="{D8A70C92-C70F-3FEE-9932-D13189F4B36F}"/>
              </a:ext>
            </a:extLst>
          </p:cNvPr>
          <p:cNvCxnSpPr>
            <a:stCxn id="6" idx="3"/>
            <a:endCxn id="10" idx="0"/>
          </p:cNvCxnSpPr>
          <p:nvPr/>
        </p:nvCxnSpPr>
        <p:spPr>
          <a:xfrm>
            <a:off x="2608953" y="2947555"/>
            <a:ext cx="262326" cy="62230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F4EBEC1C-324C-2CB9-4668-3C768387301F}"/>
              </a:ext>
            </a:extLst>
          </p:cNvPr>
          <p:cNvCxnSpPr>
            <a:stCxn id="9" idx="4"/>
          </p:cNvCxnSpPr>
          <p:nvPr/>
        </p:nvCxnSpPr>
        <p:spPr>
          <a:xfrm rot="16200000" flipH="1">
            <a:off x="1240072" y="3734517"/>
            <a:ext cx="401781" cy="103303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Соединитель: уступ 30">
            <a:extLst>
              <a:ext uri="{FF2B5EF4-FFF2-40B4-BE49-F238E27FC236}">
                <a16:creationId xmlns:a16="http://schemas.microsoft.com/office/drawing/2014/main" id="{925C43BD-45B0-8249-D1FD-DB4FD2485A0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57482" y="4056495"/>
            <a:ext cx="921378" cy="395434"/>
          </a:xfrm>
          <a:prstGeom prst="bentConnector3">
            <a:avLst>
              <a:gd name="adj1" fmla="val 489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288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03875-86C9-7E2E-B2EC-C558923A9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93963"/>
            <a:ext cx="10353762" cy="720436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Takrorlanuvchi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algoritmga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misol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8BCF3B-8291-7F9D-B8D7-5EFEC6964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06764"/>
            <a:ext cx="10353762" cy="4784436"/>
          </a:xfrm>
        </p:spPr>
        <p:txBody>
          <a:bodyPr/>
          <a:lstStyle/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3-blok </a:t>
            </a:r>
            <a:r>
              <a:rPr lang="en-US" dirty="0" err="1">
                <a:solidFill>
                  <a:schemeClr val="tx1"/>
                </a:solidFill>
              </a:rPr>
              <a:t>sxema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kodi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natijasi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</a:t>
            </a:r>
          </a:p>
          <a:p>
            <a:pPr marL="4572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   </a:t>
            </a:r>
          </a:p>
          <a:p>
            <a:pPr marL="4572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      </a:t>
            </a:r>
          </a:p>
          <a:p>
            <a:pPr marL="4572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          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52B07DAC-10B2-946B-205A-F00D7ABD4604}"/>
              </a:ext>
            </a:extLst>
          </p:cNvPr>
          <p:cNvSpPr/>
          <p:nvPr/>
        </p:nvSpPr>
        <p:spPr>
          <a:xfrm>
            <a:off x="1200730" y="1156856"/>
            <a:ext cx="1533225" cy="42025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Boshlash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6AB23618-7C64-9718-BFB7-5A7459B36D7E}"/>
              </a:ext>
            </a:extLst>
          </p:cNvPr>
          <p:cNvCxnSpPr/>
          <p:nvPr/>
        </p:nvCxnSpPr>
        <p:spPr>
          <a:xfrm>
            <a:off x="1948869" y="1577110"/>
            <a:ext cx="0" cy="28632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78BD26E-FB80-7407-EB46-A0E0A6A59BE1}"/>
              </a:ext>
            </a:extLst>
          </p:cNvPr>
          <p:cNvCxnSpPr/>
          <p:nvPr/>
        </p:nvCxnSpPr>
        <p:spPr>
          <a:xfrm>
            <a:off x="1939626" y="3114962"/>
            <a:ext cx="0" cy="28632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Параллелограмм 12">
            <a:extLst>
              <a:ext uri="{FF2B5EF4-FFF2-40B4-BE49-F238E27FC236}">
                <a16:creationId xmlns:a16="http://schemas.microsoft.com/office/drawing/2014/main" id="{73E09EA8-2368-45C9-7430-8537676463B3}"/>
              </a:ext>
            </a:extLst>
          </p:cNvPr>
          <p:cNvSpPr/>
          <p:nvPr/>
        </p:nvSpPr>
        <p:spPr>
          <a:xfrm>
            <a:off x="1173008" y="2634671"/>
            <a:ext cx="1533236" cy="480291"/>
          </a:xfrm>
          <a:prstGeom prst="parallelogram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</a:t>
            </a:r>
            <a:r>
              <a:rPr lang="en-US" dirty="0"/>
              <a:t> - </a:t>
            </a:r>
            <a:r>
              <a:rPr lang="en-US" dirty="0" err="1"/>
              <a:t>salom</a:t>
            </a:r>
            <a:endParaRPr lang="ru-RU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8AF5864F-B08F-2C54-82CA-996817440819}"/>
              </a:ext>
            </a:extLst>
          </p:cNvPr>
          <p:cNvCxnSpPr/>
          <p:nvPr/>
        </p:nvCxnSpPr>
        <p:spPr>
          <a:xfrm>
            <a:off x="1948869" y="2343728"/>
            <a:ext cx="0" cy="28632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:a16="http://schemas.microsoft.com/office/drawing/2014/main" id="{293CFE59-94BC-8F99-05BE-080A9486DC02}"/>
              </a:ext>
            </a:extLst>
          </p:cNvPr>
          <p:cNvSpPr/>
          <p:nvPr/>
        </p:nvSpPr>
        <p:spPr>
          <a:xfrm>
            <a:off x="1173008" y="4148281"/>
            <a:ext cx="1533236" cy="6096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Tugash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1CAF175-9E96-CDC2-3EF3-AFCE6B05828A}"/>
              </a:ext>
            </a:extLst>
          </p:cNvPr>
          <p:cNvCxnSpPr/>
          <p:nvPr/>
        </p:nvCxnSpPr>
        <p:spPr>
          <a:xfrm>
            <a:off x="1930389" y="3844635"/>
            <a:ext cx="0" cy="28632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AE05CCBD-326C-E51B-8E8A-66BAB22F7AB1}"/>
              </a:ext>
            </a:extLst>
          </p:cNvPr>
          <p:cNvSpPr/>
          <p:nvPr/>
        </p:nvSpPr>
        <p:spPr>
          <a:xfrm>
            <a:off x="3842327" y="1542473"/>
            <a:ext cx="3602181" cy="3648363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&lt;iostream&gt;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namespace std;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main(){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for(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=1;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&lt;=10;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++)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&lt;&lt;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&lt;&lt;“-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salom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”&lt;&lt;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endl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return 0;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F5D4EA4-F7A4-084B-BEC6-317B3532C3E3}"/>
              </a:ext>
            </a:extLst>
          </p:cNvPr>
          <p:cNvSpPr/>
          <p:nvPr/>
        </p:nvSpPr>
        <p:spPr>
          <a:xfrm>
            <a:off x="7850909" y="1542473"/>
            <a:ext cx="3602181" cy="3648363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1-salom</a:t>
            </a:r>
          </a:p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2-salom</a:t>
            </a:r>
          </a:p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3-salom</a:t>
            </a:r>
          </a:p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4-salom</a:t>
            </a:r>
          </a:p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5-salom</a:t>
            </a:r>
          </a:p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6-salom</a:t>
            </a:r>
          </a:p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7-salom</a:t>
            </a:r>
          </a:p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8-salom</a:t>
            </a:r>
          </a:p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9-salom</a:t>
            </a:r>
          </a:p>
          <a:p>
            <a:pPr algn="ctr"/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10-salom</a:t>
            </a:r>
          </a:p>
          <a:p>
            <a:pPr algn="ctr"/>
            <a:endParaRPr lang="ru-RU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Блок-схема: подготовка 5">
            <a:extLst>
              <a:ext uri="{FF2B5EF4-FFF2-40B4-BE49-F238E27FC236}">
                <a16:creationId xmlns:a16="http://schemas.microsoft.com/office/drawing/2014/main" id="{F8D959F7-B38E-A23B-3FAC-D8C7A7EAF8D6}"/>
              </a:ext>
            </a:extLst>
          </p:cNvPr>
          <p:cNvSpPr/>
          <p:nvPr/>
        </p:nvSpPr>
        <p:spPr>
          <a:xfrm>
            <a:off x="1006767" y="1863437"/>
            <a:ext cx="1921150" cy="480291"/>
          </a:xfrm>
          <a:prstGeom prst="flowChartPreparati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</a:t>
            </a:r>
            <a:r>
              <a:rPr lang="en-US" dirty="0"/>
              <a:t> = 1, 10</a:t>
            </a:r>
            <a:endParaRPr lang="ru-RU" dirty="0"/>
          </a:p>
        </p:txBody>
      </p:sp>
      <p:sp>
        <p:nvSpPr>
          <p:cNvPr id="8" name="Блок-схема: документ 7">
            <a:extLst>
              <a:ext uri="{FF2B5EF4-FFF2-40B4-BE49-F238E27FC236}">
                <a16:creationId xmlns:a16="http://schemas.microsoft.com/office/drawing/2014/main" id="{7F8001AF-5B0F-7E32-1577-B314E5CF74DF}"/>
              </a:ext>
            </a:extLst>
          </p:cNvPr>
          <p:cNvSpPr/>
          <p:nvPr/>
        </p:nvSpPr>
        <p:spPr>
          <a:xfrm>
            <a:off x="1380830" y="3392052"/>
            <a:ext cx="1117591" cy="591128"/>
          </a:xfrm>
          <a:prstGeom prst="flowChartDocumen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- </a:t>
            </a:r>
            <a:r>
              <a:rPr lang="en-US" dirty="0" err="1"/>
              <a:t>salom</a:t>
            </a:r>
            <a:endParaRPr lang="ru-RU" dirty="0"/>
          </a:p>
        </p:txBody>
      </p: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id="{9D3045E5-9150-5776-10AF-214C36F99D59}"/>
              </a:ext>
            </a:extLst>
          </p:cNvPr>
          <p:cNvCxnSpPr>
            <a:stCxn id="6" idx="3"/>
            <a:endCxn id="8" idx="3"/>
          </p:cNvCxnSpPr>
          <p:nvPr/>
        </p:nvCxnSpPr>
        <p:spPr>
          <a:xfrm flipH="1">
            <a:off x="2498421" y="2103583"/>
            <a:ext cx="429496" cy="1584033"/>
          </a:xfrm>
          <a:prstGeom prst="bentConnector3">
            <a:avLst>
              <a:gd name="adj1" fmla="val -5322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Соединитель: уступ 21">
            <a:extLst>
              <a:ext uri="{FF2B5EF4-FFF2-40B4-BE49-F238E27FC236}">
                <a16:creationId xmlns:a16="http://schemas.microsoft.com/office/drawing/2014/main" id="{C6A22600-A5AE-1C63-2881-222F3D7EE1A9}"/>
              </a:ext>
            </a:extLst>
          </p:cNvPr>
          <p:cNvCxnSpPr>
            <a:cxnSpLocks/>
            <a:stCxn id="8" idx="1"/>
            <a:endCxn id="6" idx="1"/>
          </p:cNvCxnSpPr>
          <p:nvPr/>
        </p:nvCxnSpPr>
        <p:spPr>
          <a:xfrm rot="10800000">
            <a:off x="1006768" y="2103584"/>
            <a:ext cx="374063" cy="1584033"/>
          </a:xfrm>
          <a:prstGeom prst="bentConnector3">
            <a:avLst>
              <a:gd name="adj1" fmla="val 16111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574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CA719A-A11C-BDFB-9745-1BD942416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3273"/>
            <a:ext cx="9875520" cy="51723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✨</a:t>
            </a:r>
            <a:r>
              <a:rPr lang="en-US" dirty="0" err="1">
                <a:solidFill>
                  <a:schemeClr val="tx1"/>
                </a:solidFill>
              </a:rPr>
              <a:t>Asosiy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tushunchalar</a:t>
            </a:r>
            <a:r>
              <a:rPr lang="en-US" dirty="0">
                <a:solidFill>
                  <a:schemeClr val="tx1"/>
                </a:solidFill>
              </a:rPr>
              <a:t>:💡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4DC786-9C06-DE42-51EE-1EB6643E2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4" y="951345"/>
            <a:ext cx="11139054" cy="543098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1) #include – </a:t>
            </a:r>
            <a:r>
              <a:rPr lang="en-US" sz="1600" dirty="0" err="1">
                <a:solidFill>
                  <a:schemeClr val="tx1"/>
                </a:solidFill>
              </a:rPr>
              <a:t>bu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ingliz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tilidan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qo’shish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ulash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degani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"/>
              </a:spcAft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2) &lt;iostream&gt; – </a:t>
            </a:r>
            <a:r>
              <a:rPr lang="en-US" sz="1600" dirty="0" err="1">
                <a:solidFill>
                  <a:schemeClr val="tx1"/>
                </a:solidFill>
              </a:rPr>
              <a:t>bu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kiritish</a:t>
            </a:r>
            <a:r>
              <a:rPr lang="en-US" sz="1600" dirty="0">
                <a:solidFill>
                  <a:schemeClr val="tx1"/>
                </a:solidFill>
              </a:rPr>
              <a:t> (input) </a:t>
            </a:r>
            <a:r>
              <a:rPr lang="en-US" sz="1600" dirty="0" err="1">
                <a:solidFill>
                  <a:schemeClr val="tx1"/>
                </a:solidFill>
              </a:rPr>
              <a:t>va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chiqarish</a:t>
            </a:r>
            <a:r>
              <a:rPr lang="en-US" sz="1600" dirty="0">
                <a:solidFill>
                  <a:schemeClr val="tx1"/>
                </a:solidFill>
              </a:rPr>
              <a:t> (output) </a:t>
            </a:r>
            <a:r>
              <a:rPr lang="en-US" sz="1600" dirty="0" err="1">
                <a:solidFill>
                  <a:schemeClr val="tx1"/>
                </a:solidFill>
              </a:rPr>
              <a:t>hamda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oqim</a:t>
            </a:r>
            <a:r>
              <a:rPr lang="en-US" sz="1600" dirty="0">
                <a:solidFill>
                  <a:schemeClr val="tx1"/>
                </a:solidFill>
              </a:rPr>
              <a:t> (stream) -&gt; </a:t>
            </a:r>
            <a:r>
              <a:rPr lang="en-US" sz="1600" dirty="0" err="1">
                <a:solidFill>
                  <a:schemeClr val="tx1"/>
                </a:solidFill>
              </a:rPr>
              <a:t>qisqasi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kiritish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va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chiqarish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kutubxonasi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"/>
              </a:spcAft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3) using namespace std – </a:t>
            </a:r>
            <a:r>
              <a:rPr lang="en-US" sz="1600" dirty="0" err="1">
                <a:solidFill>
                  <a:schemeClr val="tx1"/>
                </a:solidFill>
              </a:rPr>
              <a:t>bu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standart</a:t>
            </a:r>
            <a:r>
              <a:rPr lang="en-US" sz="1600" dirty="0">
                <a:solidFill>
                  <a:schemeClr val="tx1"/>
                </a:solidFill>
              </a:rPr>
              <a:t> (std) </a:t>
            </a:r>
            <a:r>
              <a:rPr lang="en-US" sz="1600" dirty="0" err="1">
                <a:solidFill>
                  <a:schemeClr val="tx1"/>
                </a:solidFill>
              </a:rPr>
              <a:t>nomlar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makoniga</a:t>
            </a:r>
            <a:r>
              <a:rPr lang="en-US" sz="1600" dirty="0">
                <a:solidFill>
                  <a:schemeClr val="tx1"/>
                </a:solidFill>
              </a:rPr>
              <a:t> (namespace) </a:t>
            </a:r>
            <a:r>
              <a:rPr lang="en-US" sz="1600" dirty="0" err="1">
                <a:solidFill>
                  <a:schemeClr val="tx1"/>
                </a:solidFill>
              </a:rPr>
              <a:t>murojat</a:t>
            </a:r>
            <a:r>
              <a:rPr lang="en-US" sz="1600" dirty="0">
                <a:solidFill>
                  <a:schemeClr val="tx1"/>
                </a:solidFill>
              </a:rPr>
              <a:t> (using) </a:t>
            </a:r>
            <a:r>
              <a:rPr lang="en-US" sz="1600" dirty="0" err="1">
                <a:solidFill>
                  <a:schemeClr val="tx1"/>
                </a:solidFill>
              </a:rPr>
              <a:t>qilish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degani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"/>
              </a:spcAft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4) int main() – </a:t>
            </a:r>
            <a:r>
              <a:rPr lang="en-US" sz="1600" dirty="0" err="1">
                <a:solidFill>
                  <a:schemeClr val="tx1"/>
                </a:solidFill>
              </a:rPr>
              <a:t>bu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funksiya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deyiladi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  <a:r>
              <a:rPr lang="en-US" sz="1600" dirty="0" err="1">
                <a:solidFill>
                  <a:schemeClr val="tx1"/>
                </a:solidFill>
              </a:rPr>
              <a:t>Undan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keyingi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figurniy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qavs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ichidagi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har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qanday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kod</a:t>
            </a:r>
            <a:r>
              <a:rPr lang="en-US" sz="1600" dirty="0">
                <a:solidFill>
                  <a:schemeClr val="tx1"/>
                </a:solidFill>
              </a:rPr>
              <a:t> {</a:t>
            </a:r>
            <a:r>
              <a:rPr lang="en-US" sz="1600" dirty="0" err="1">
                <a:solidFill>
                  <a:schemeClr val="tx1"/>
                </a:solidFill>
              </a:rPr>
              <a:t>kodlar</a:t>
            </a:r>
            <a:r>
              <a:rPr lang="en-US" sz="1600" dirty="0">
                <a:solidFill>
                  <a:schemeClr val="tx1"/>
                </a:solidFill>
              </a:rPr>
              <a:t>} </a:t>
            </a:r>
            <a:r>
              <a:rPr lang="en-US" sz="1600" dirty="0" err="1">
                <a:solidFill>
                  <a:schemeClr val="tx1"/>
                </a:solidFill>
              </a:rPr>
              <a:t>bajariladi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"/>
              </a:spcAft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5) </a:t>
            </a:r>
            <a:r>
              <a:rPr lang="en-US" sz="1600" dirty="0" err="1">
                <a:solidFill>
                  <a:schemeClr val="tx1"/>
                </a:solidFill>
              </a:rPr>
              <a:t>cout</a:t>
            </a:r>
            <a:r>
              <a:rPr lang="en-US" sz="1600" dirty="0">
                <a:solidFill>
                  <a:schemeClr val="tx1"/>
                </a:solidFill>
              </a:rPr>
              <a:t> – </a:t>
            </a:r>
            <a:r>
              <a:rPr lang="en-US" sz="1600" dirty="0" err="1">
                <a:solidFill>
                  <a:schemeClr val="tx1"/>
                </a:solidFill>
              </a:rPr>
              <a:t>bu</a:t>
            </a:r>
            <a:r>
              <a:rPr lang="en-US" sz="1600" dirty="0">
                <a:solidFill>
                  <a:schemeClr val="tx1"/>
                </a:solidFill>
              </a:rPr>
              <a:t> console </a:t>
            </a:r>
            <a:r>
              <a:rPr lang="en-US" sz="1600" dirty="0" err="1">
                <a:solidFill>
                  <a:schemeClr val="tx1"/>
                </a:solidFill>
              </a:rPr>
              <a:t>yoki</a:t>
            </a:r>
            <a:r>
              <a:rPr lang="en-US" sz="1600" dirty="0">
                <a:solidFill>
                  <a:schemeClr val="tx1"/>
                </a:solidFill>
              </a:rPr>
              <a:t> terminal </a:t>
            </a:r>
            <a:r>
              <a:rPr lang="en-US" sz="1600" dirty="0" err="1">
                <a:solidFill>
                  <a:schemeClr val="tx1"/>
                </a:solidFill>
              </a:rPr>
              <a:t>ekraniga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ma’lumot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chiqarish</a:t>
            </a:r>
            <a:r>
              <a:rPr lang="en-US" sz="1600" dirty="0">
                <a:solidFill>
                  <a:schemeClr val="tx1"/>
                </a:solidFill>
              </a:rPr>
              <a:t> (output) </a:t>
            </a:r>
            <a:r>
              <a:rPr lang="en-US" sz="1600" dirty="0" err="1">
                <a:solidFill>
                  <a:schemeClr val="tx1"/>
                </a:solidFill>
              </a:rPr>
              <a:t>operatori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uning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qarama-qarshisi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bu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cin</a:t>
            </a:r>
            <a:r>
              <a:rPr lang="en-US" sz="1600" dirty="0">
                <a:solidFill>
                  <a:schemeClr val="tx1"/>
                </a:solidFill>
              </a:rPr>
              <a:t>. U (console) </a:t>
            </a:r>
            <a:r>
              <a:rPr lang="en-US" sz="1600" dirty="0" err="1">
                <a:solidFill>
                  <a:schemeClr val="tx1"/>
                </a:solidFill>
              </a:rPr>
              <a:t>ekraniga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ma’lumot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kiritish</a:t>
            </a:r>
            <a:r>
              <a:rPr lang="en-US" sz="1600" dirty="0">
                <a:solidFill>
                  <a:schemeClr val="tx1"/>
                </a:solidFill>
              </a:rPr>
              <a:t> (input) </a:t>
            </a:r>
            <a:r>
              <a:rPr lang="en-US" sz="1600" dirty="0" err="1">
                <a:solidFill>
                  <a:schemeClr val="tx1"/>
                </a:solidFill>
              </a:rPr>
              <a:t>uchun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ishlatiladigan</a:t>
            </a:r>
            <a:r>
              <a:rPr lang="en-US" sz="1600" dirty="0">
                <a:solidFill>
                  <a:schemeClr val="tx1"/>
                </a:solidFill>
              </a:rPr>
              <a:t> operator.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6) return </a:t>
            </a:r>
            <a:r>
              <a:rPr lang="en-US" sz="1600" dirty="0">
                <a:solidFill>
                  <a:schemeClr val="tx1"/>
                </a:solidFill>
                <a:latin typeface="Abadi" panose="020F0502020204030204" pitchFamily="34" charset="0"/>
              </a:rPr>
              <a:t>0 – </a:t>
            </a:r>
            <a:r>
              <a:rPr lang="en-US" sz="1600" dirty="0" err="1">
                <a:solidFill>
                  <a:schemeClr val="tx1"/>
                </a:solidFill>
              </a:rPr>
              <a:t>asosiy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funksiyani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tugatish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dastur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ishlab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bo’lgandan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keyin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Abadi" panose="020B0604020104020204" pitchFamily="34" charset="0"/>
              </a:rPr>
              <a:t>0 </a:t>
            </a:r>
            <a:r>
              <a:rPr lang="en-US" sz="1600" dirty="0" err="1">
                <a:solidFill>
                  <a:schemeClr val="tx1"/>
                </a:solidFill>
              </a:rPr>
              <a:t>qiymat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ya’ni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funksiyani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nihoyasini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belgilash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uchun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ishlatiladi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tx1"/>
              </a:solidFill>
              <a:latin typeface="Abad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Abadi" panose="020F0502020204030204" pitchFamily="34" charset="0"/>
              </a:rPr>
              <a:t>Bonus: </a:t>
            </a:r>
            <a:r>
              <a:rPr lang="en-US" sz="1600" dirty="0">
                <a:solidFill>
                  <a:schemeClr val="tx1"/>
                </a:solidFill>
              </a:rPr>
              <a:t>Agar </a:t>
            </a:r>
            <a:r>
              <a:rPr lang="en-US" sz="1600" dirty="0" err="1">
                <a:solidFill>
                  <a:schemeClr val="tx1"/>
                </a:solidFill>
              </a:rPr>
              <a:t>dasturingizni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tashqi</a:t>
            </a:r>
            <a:r>
              <a:rPr lang="en-US" sz="1600" dirty="0">
                <a:solidFill>
                  <a:schemeClr val="tx1"/>
                </a:solidFill>
              </a:rPr>
              <a:t> (External) </a:t>
            </a:r>
            <a:r>
              <a:rPr lang="en-US" sz="1600" dirty="0" err="1">
                <a:solidFill>
                  <a:schemeClr val="tx1"/>
                </a:solidFill>
              </a:rPr>
              <a:t>consoleda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ishlatmoqchi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bo’lsangiz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va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dastur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ishga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tushishi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bilan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yopilib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qolsa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unda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Abadi" panose="020F0502020204030204" pitchFamily="34" charset="0"/>
              </a:rPr>
              <a:t>return 0 </a:t>
            </a:r>
            <a:r>
              <a:rPr lang="en-US" sz="1600" dirty="0">
                <a:solidFill>
                  <a:schemeClr val="tx1"/>
                </a:solidFill>
              </a:rPr>
              <a:t>dan </a:t>
            </a:r>
            <a:r>
              <a:rPr lang="en-US" sz="1600" dirty="0" err="1">
                <a:solidFill>
                  <a:schemeClr val="tx1"/>
                </a:solidFill>
              </a:rPr>
              <a:t>oldin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accent4"/>
                </a:solidFill>
              </a:rPr>
              <a:t>system(“pause”); </a:t>
            </a:r>
            <a:r>
              <a:rPr lang="en-US" sz="1600" dirty="0" err="1">
                <a:solidFill>
                  <a:schemeClr val="tx1"/>
                </a:solidFill>
              </a:rPr>
              <a:t>kodini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yozib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qo’yish</a:t>
            </a:r>
            <a:r>
              <a:rPr lang="en-US" sz="1600" dirty="0">
                <a:solidFill>
                  <a:schemeClr val="tx1"/>
                </a:solidFill>
              </a:rPr>
              <a:t> console </a:t>
            </a:r>
            <a:r>
              <a:rPr lang="en-US" sz="1600" dirty="0" err="1">
                <a:solidFill>
                  <a:schemeClr val="tx1"/>
                </a:solidFill>
              </a:rPr>
              <a:t>yopilib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qolish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muamosini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hal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qiladi</a:t>
            </a:r>
            <a:r>
              <a:rPr lang="en-US" sz="1600" dirty="0">
                <a:solidFill>
                  <a:schemeClr val="tx1"/>
                </a:solidFill>
              </a:rPr>
              <a:t>😎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Abadi" panose="020F0502020204030204" pitchFamily="34" charset="0"/>
            </a:endParaRPr>
          </a:p>
          <a:p>
            <a:pPr marL="45720" indent="0">
              <a:lnSpc>
                <a:spcPct val="100000"/>
              </a:lnSpc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104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C4F9F-5FF8-1C13-14A5-14D669AE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Qo’shimcha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ma’lumotlar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9FA7A6-C6B3-1153-6704-792851714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 err="1">
                <a:solidFill>
                  <a:schemeClr val="tx1"/>
                </a:solidFill>
              </a:rPr>
              <a:t>CppStudio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c++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dasturlash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tili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uchun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muhit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unga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havola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hlinkClick r:id="rId2"/>
              </a:rPr>
              <a:t>https://clouduzb.github.io/</a:t>
            </a:r>
            <a:endParaRPr lang="en-US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Telegram </a:t>
            </a:r>
            <a:r>
              <a:rPr lang="en-US" dirty="0" err="1">
                <a:solidFill>
                  <a:schemeClr val="tx1"/>
                </a:solidFill>
              </a:rPr>
              <a:t>kanal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hlinkClick r:id="rId3"/>
              </a:rPr>
              <a:t>https://t.me/uzcppx</a:t>
            </a:r>
            <a:endParaRPr lang="en-US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529697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purl.org/dc/elements/1.1/"/>
    <ds:schemaRef ds:uri="16c05727-aa75-4e4a-9b5f-8a80a1165891"/>
    <ds:schemaRef ds:uri="http://purl.org/dc/dcmitype/"/>
    <ds:schemaRef ds:uri="http://purl.org/dc/terms/"/>
    <ds:schemaRef ds:uri="71af3243-3dd4-4a8d-8c0d-dd76da1f02a5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TM03457444[[fn=Базис]]</Template>
  <TotalTime>160</TotalTime>
  <Words>497</Words>
  <Application>Microsoft Office PowerPoint</Application>
  <PresentationFormat>Широкоэкранный</PresentationFormat>
  <Paragraphs>120</Paragraphs>
  <Slides>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Abadi</vt:lpstr>
      <vt:lpstr>Calibri</vt:lpstr>
      <vt:lpstr>Corbel</vt:lpstr>
      <vt:lpstr>Базис</vt:lpstr>
      <vt:lpstr>Dasturlash asoslari bilan tanishish</vt:lpstr>
      <vt:lpstr>Chiziqli algoritmga misol:</vt:lpstr>
      <vt:lpstr>Tarmoqlanuvchi algoritmga misol:</vt:lpstr>
      <vt:lpstr>Takrorlanuvchi algoritmga misol:</vt:lpstr>
      <vt:lpstr>✨Asosiy tushunchalar:💡</vt:lpstr>
      <vt:lpstr>Qo’shimcha ma’lumotlar: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</dc:creator>
  <cp:lastModifiedBy>Max</cp:lastModifiedBy>
  <cp:revision>8</cp:revision>
  <dcterms:created xsi:type="dcterms:W3CDTF">2026-10-08T06:09:05Z</dcterms:created>
  <dcterms:modified xsi:type="dcterms:W3CDTF">2026-10-08T08:49:43Z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